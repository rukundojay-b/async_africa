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7" r:id="rId9"/>
    <p:sldId id="268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8955" y="268605"/>
            <a:ext cx="11231245" cy="1491615"/>
          </a:xfrm>
        </p:spPr>
        <p:txBody>
          <a:bodyPr/>
          <a:lstStyle/>
          <a:p>
            <a:r>
              <a:rPr lang="en-US" altLang="en-US" dirty="0">
                <a:solidFill>
                  <a:schemeClr val="accent1"/>
                </a:solidFill>
              </a:rPr>
              <a:t>1. Introduction to JavaScript</a:t>
            </a:r>
            <a:endParaRPr lang="en-US" altLang="en-US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9590" y="1356995"/>
            <a:ext cx="10713085" cy="5241290"/>
          </a:xfrm>
        </p:spPr>
        <p:txBody>
          <a:bodyPr/>
          <a:lstStyle/>
          <a:p>
            <a:r>
              <a:rPr lang="en-US" altLang="en-US"/>
              <a:t>What is JavaScript?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JavaScript is a programming language for the web Development,</a:t>
            </a:r>
            <a:r>
              <a:rPr lang="en-US" altLang="en-US">
                <a:sym typeface="+mn-ea"/>
              </a:rPr>
              <a:t>Makes websites interactive</a:t>
            </a:r>
            <a:endParaRPr lang="en-US" altLang="en-US"/>
          </a:p>
          <a:p>
            <a:r>
              <a:rPr lang="en-US" altLang="en-US">
                <a:solidFill>
                  <a:schemeClr val="accent1"/>
                </a:solidFill>
              </a:rPr>
              <a:t>Examples:</a:t>
            </a:r>
            <a:endParaRPr lang="en-US" altLang="en-US">
              <a:solidFill>
                <a:schemeClr val="accent1"/>
              </a:solidFill>
            </a:endParaRPr>
          </a:p>
          <a:p>
            <a:endParaRPr lang="en-US" altLang="en-US"/>
          </a:p>
          <a:p>
            <a:r>
              <a:rPr lang="en-US" altLang="en-US"/>
              <a:t>Button clicks</a:t>
            </a:r>
            <a:endParaRPr lang="en-US" altLang="en-US"/>
          </a:p>
          <a:p>
            <a:r>
              <a:rPr lang="en-US" altLang="en-US"/>
              <a:t>Form validation</a:t>
            </a:r>
            <a:endParaRPr lang="en-US" altLang="en-US"/>
          </a:p>
          <a:p>
            <a:r>
              <a:rPr lang="en-US" altLang="en-US"/>
              <a:t>Dynamic content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2. Where JavaScript Runs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Where Can We Use JavaScript?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Browser (Chrome, Firefox)</a:t>
            </a:r>
            <a:endParaRPr lang="en-US" altLang="en-US"/>
          </a:p>
          <a:p>
            <a:r>
              <a:rPr lang="en-US" altLang="en-US"/>
              <a:t>Server (Node.js)</a:t>
            </a:r>
            <a:endParaRPr lang="en-US" altLang="en-US"/>
          </a:p>
          <a:p>
            <a:r>
              <a:rPr lang="en-US" altLang="en-US"/>
              <a:t>(download nodejs here for server side  (</a:t>
            </a:r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https://nodejs.org/en/download</a:t>
            </a:r>
            <a:r>
              <a:rPr lang="en-US" altLang="en-US"/>
              <a:t>))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3.Variables in JavaScript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let name = "John";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const age = 25;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var city = "Kigali";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let → can change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const → cannot change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var → old (avoid)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4.Data Types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String → "Hello"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Number → 10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Boolean → true/false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Array → [1,2,3]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Object → {name: "John"}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5.Operators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let a = 5;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let b = 3;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a + b // addition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a &gt; b // comparison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6.Function → “Reusable Logic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257165"/>
          </a:xfrm>
        </p:spPr>
        <p:txBody>
          <a:bodyPr/>
          <a:p>
            <a:r>
              <a:rPr lang="en-US" altLang="en-US">
                <a:solidFill>
                  <a:schemeClr val="accent6">
                    <a:lumMod val="10000"/>
                  </a:schemeClr>
                </a:solidFill>
              </a:rPr>
              <a:t>function greet(name) {</a:t>
            </a:r>
            <a:endParaRPr lang="en-US" altLang="en-US">
              <a:solidFill>
                <a:schemeClr val="accent6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6">
                    <a:lumMod val="10000"/>
                  </a:schemeClr>
                </a:solidFill>
              </a:rPr>
              <a:t>  return "Hello " + name;</a:t>
            </a:r>
            <a:endParaRPr lang="en-US" altLang="en-US">
              <a:solidFill>
                <a:schemeClr val="accent6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6">
                    <a:lumMod val="10000"/>
                  </a:schemeClr>
                </a:solidFill>
              </a:rPr>
              <a:t>}</a:t>
            </a:r>
            <a:endParaRPr lang="en-US" altLang="en-US">
              <a:solidFill>
                <a:schemeClr val="accent6">
                  <a:lumMod val="10000"/>
                </a:schemeClr>
              </a:solidFill>
            </a:endParaRPr>
          </a:p>
          <a:p>
            <a:endParaRPr lang="en-US" altLang="en-US">
              <a:solidFill>
                <a:schemeClr val="accent6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6">
                    <a:lumMod val="10000"/>
                  </a:schemeClr>
                </a:solidFill>
              </a:rPr>
              <a:t>greet("John");</a:t>
            </a:r>
            <a:endParaRPr lang="en-US" altLang="en-US">
              <a:solidFill>
                <a:schemeClr val="accent6">
                  <a:lumMod val="10000"/>
                </a:schemeClr>
              </a:solidFill>
            </a:endParaRPr>
          </a:p>
          <a:p>
            <a:r>
              <a:rPr lang="en-US" altLang="en-US"/>
              <a:t>“Function = input → process → output”</a:t>
            </a:r>
            <a:endParaRPr lang="en-US" altLang="en-US"/>
          </a:p>
          <a:p>
            <a:pPr marL="0" indent="0">
              <a:buNone/>
            </a:pPr>
            <a:r>
              <a:rPr lang="en-US" altLang="en-US" sz="2400">
                <a:solidFill>
                  <a:schemeClr val="accent1"/>
                </a:solidFill>
              </a:rPr>
              <a:t>&gt;Why Functions Matter</a:t>
            </a:r>
            <a:endParaRPr lang="en-US" altLang="en-US" sz="2400">
              <a:solidFill>
                <a:schemeClr val="accent1"/>
              </a:solidFill>
            </a:endParaRPr>
          </a:p>
          <a:p>
            <a:r>
              <a:rPr lang="en-US" altLang="en-US" sz="2400"/>
              <a:t>Avoid repeating code</a:t>
            </a:r>
            <a:endParaRPr lang="en-US" altLang="en-US" sz="2400"/>
          </a:p>
          <a:p>
            <a:r>
              <a:rPr lang="en-US" altLang="en-US" sz="2400"/>
              <a:t>Make code reusable</a:t>
            </a:r>
            <a:endParaRPr lang="en-US" altLang="en-US" sz="2400"/>
          </a:p>
          <a:p>
            <a:r>
              <a:rPr lang="en-US" altLang="en-US" sz="2000"/>
              <a:t>Organize logic</a:t>
            </a:r>
            <a:endParaRPr lang="en-US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7.Conditional Statements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let age = 18;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if (age &gt;= 18) {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  console.log("Adult");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} else {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  console.log("Minor");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}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8.Loops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for (let i = 0; i &lt; 5; i++) {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  console.log(i);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}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9.Array → “A List of Values”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An array</a:t>
            </a:r>
            <a:r>
              <a:rPr lang="en-US" altLang="en-US"/>
              <a:t> is a variable that can store multiple values in order</a:t>
            </a:r>
            <a:endParaRPr lang="en-US" altLang="en-US"/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(const numbers = [10, 20, 30, 40];)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Each value has a position (index)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Index starts from 0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numbers[0]; // 10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numbers[2]; // 30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10.</a:t>
            </a:r>
            <a:r>
              <a:rPr lang="en-US" altLang="en-US">
                <a:solidFill>
                  <a:schemeClr val="accent1"/>
                </a:solidFill>
              </a:rPr>
              <a:t>Important Operations can be applied on array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const numbers = [10, 20, 30, 40];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  <a:sym typeface="+mn-ea"/>
              </a:rPr>
              <a:t>numbers.push(50);   // add 50 to the last  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numbers.pop();      // remove last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numbers.length;     // total items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11.Object → “A Single Thing with Properties”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An object stores data in key-value pairs.</a:t>
            </a:r>
            <a:endParaRPr lang="en-US" altLang="en-US"/>
          </a:p>
          <a:p>
            <a:r>
              <a:rPr lang="en-US" altLang="en-US" sz="2000">
                <a:solidFill>
                  <a:schemeClr val="accent4">
                    <a:lumMod val="10000"/>
                  </a:schemeClr>
                </a:solidFill>
              </a:rPr>
              <a:t>const user = {</a:t>
            </a:r>
            <a:endParaRPr lang="en-US" altLang="en-US" sz="2000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 sz="2000">
                <a:solidFill>
                  <a:schemeClr val="accent4">
                    <a:lumMod val="10000"/>
                  </a:schemeClr>
                </a:solidFill>
              </a:rPr>
              <a:t>  name: "John",</a:t>
            </a:r>
            <a:endParaRPr lang="en-US" altLang="en-US" sz="2000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 sz="2000">
                <a:solidFill>
                  <a:schemeClr val="accent4">
                    <a:lumMod val="10000"/>
                  </a:schemeClr>
                </a:solidFill>
              </a:rPr>
              <a:t>  age: 25,</a:t>
            </a:r>
            <a:endParaRPr lang="en-US" altLang="en-US" sz="2000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 sz="2000">
                <a:solidFill>
                  <a:schemeClr val="accent4">
                    <a:lumMod val="10000"/>
                  </a:schemeClr>
                </a:solidFill>
              </a:rPr>
              <a:t>  isStudent: true</a:t>
            </a:r>
            <a:endParaRPr lang="en-US" altLang="en-US" sz="2000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 sz="2000">
                <a:solidFill>
                  <a:schemeClr val="accent4">
                    <a:lumMod val="10000"/>
                  </a:schemeClr>
                </a:solidFill>
              </a:rPr>
              <a:t>};</a:t>
            </a:r>
            <a:endParaRPr lang="en-US" altLang="en-US" sz="2000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 sz="1800">
                <a:solidFill>
                  <a:schemeClr val="accent1"/>
                </a:solidFill>
              </a:rPr>
              <a:t>name, age → keys</a:t>
            </a:r>
            <a:endParaRPr lang="en-US" altLang="en-US" sz="1800">
              <a:solidFill>
                <a:schemeClr val="accent1"/>
              </a:solidFill>
            </a:endParaRPr>
          </a:p>
          <a:p>
            <a:r>
              <a:rPr lang="en-US" altLang="en-US" sz="1800">
                <a:solidFill>
                  <a:schemeClr val="accent1"/>
                </a:solidFill>
              </a:rPr>
              <a:t>"John", 25 → values</a:t>
            </a:r>
            <a:endParaRPr lang="en-US" altLang="en-US" sz="1800">
              <a:solidFill>
                <a:schemeClr val="accent1"/>
              </a:solidFill>
            </a:endParaRPr>
          </a:p>
          <a:p>
            <a:r>
              <a:rPr lang="en-US" altLang="en-US" sz="1800">
                <a:solidFill>
                  <a:schemeClr val="accent4">
                    <a:lumMod val="10000"/>
                  </a:schemeClr>
                </a:solidFill>
              </a:rPr>
              <a:t>user.name; // John</a:t>
            </a:r>
            <a:endParaRPr lang="en-US" altLang="en-US" sz="1800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 sz="1800">
                <a:solidFill>
                  <a:schemeClr val="accent4">
                    <a:lumMod val="10000"/>
                  </a:schemeClr>
                </a:solidFill>
              </a:rPr>
              <a:t>user.age;  // 25</a:t>
            </a:r>
            <a:endParaRPr lang="en-US" altLang="en-US" sz="1800">
              <a:solidFill>
                <a:schemeClr val="accent4">
                  <a:lumMod val="1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</a:rPr>
              <a:t>12.DOM → “Connecting JavaScript to HTML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</a:rPr>
              <a:t>&gt;Example HTML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&lt;h1 id="title"&gt;Hello&lt;/h1&gt;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4">
                    <a:lumMod val="10000"/>
                  </a:schemeClr>
                </a:solidFill>
              </a:rPr>
              <a:t>document.getElementById("title").innerText = "Welcome";</a:t>
            </a:r>
            <a:endParaRPr lang="en-US" altLang="en-US">
              <a:solidFill>
                <a:schemeClr val="accent4">
                  <a:lumMod val="10000"/>
                </a:schemeClr>
              </a:solidFill>
            </a:endParaRPr>
          </a:p>
          <a:p>
            <a:r>
              <a:rPr lang="en-US" altLang="en-US">
                <a:solidFill>
                  <a:schemeClr val="accent1"/>
                </a:solidFill>
              </a:rPr>
              <a:t>Deep Understanding</a:t>
            </a:r>
            <a:endParaRPr lang="en-US" altLang="en-US">
              <a:solidFill>
                <a:schemeClr val="accent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JavaScript finds element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Then changes it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1813</Words>
  <Application>WPS Presentation</Application>
  <PresentationFormat>Widescreen</PresentationFormat>
  <Paragraphs>112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Art_mountaineering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Rama</cp:lastModifiedBy>
  <cp:revision>3</cp:revision>
  <dcterms:created xsi:type="dcterms:W3CDTF">2025-07-23T00:59:00Z</dcterms:created>
  <dcterms:modified xsi:type="dcterms:W3CDTF">2026-03-24T19:05:09Z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A45E375A1D0E488EA2AD99F419743D58_11</vt:lpwstr>
  </property>
  <property fmtid="{D5CDD505-2E9C-101B-9397-08002B2CF9AE}" pid="3" name="KSOProductBuildVer">
    <vt:lpwstr>1033-12.2.0.23196</vt:lpwstr>
  </property>
</Properties>
</file>